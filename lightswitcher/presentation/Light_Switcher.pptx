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8" r:id="rId1"/>
  </p:sldMasterIdLst>
  <p:sldIdLst>
    <p:sldId id="256" r:id="rId2"/>
    <p:sldId id="283" r:id="rId3"/>
    <p:sldId id="285" r:id="rId4"/>
    <p:sldId id="286" r:id="rId5"/>
    <p:sldId id="288" r:id="rId6"/>
    <p:sldId id="287" r:id="rId7"/>
    <p:sldId id="282" r:id="rId8"/>
    <p:sldId id="289" r:id="rId9"/>
    <p:sldId id="257" r:id="rId10"/>
    <p:sldId id="274" r:id="rId11"/>
    <p:sldId id="276" r:id="rId12"/>
    <p:sldId id="291" r:id="rId13"/>
    <p:sldId id="295" r:id="rId14"/>
    <p:sldId id="292" r:id="rId15"/>
    <p:sldId id="297" r:id="rId16"/>
    <p:sldId id="298" r:id="rId17"/>
    <p:sldId id="299" r:id="rId18"/>
    <p:sldId id="300" r:id="rId19"/>
    <p:sldId id="275" r:id="rId20"/>
    <p:sldId id="278" r:id="rId21"/>
    <p:sldId id="261" r:id="rId22"/>
    <p:sldId id="262" r:id="rId23"/>
    <p:sldId id="273" r:id="rId24"/>
    <p:sldId id="277" r:id="rId25"/>
    <p:sldId id="260" r:id="rId26"/>
    <p:sldId id="290" r:id="rId27"/>
    <p:sldId id="264" r:id="rId28"/>
    <p:sldId id="266" r:id="rId29"/>
    <p:sldId id="263" r:id="rId30"/>
    <p:sldId id="265" r:id="rId31"/>
    <p:sldId id="267" r:id="rId32"/>
    <p:sldId id="268" r:id="rId33"/>
    <p:sldId id="270" r:id="rId34"/>
    <p:sldId id="279" r:id="rId35"/>
    <p:sldId id="280" r:id="rId36"/>
    <p:sldId id="258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49D7B632-11C3-401B-B0DA-D75E6B6A2120}">
          <p14:sldIdLst>
            <p14:sldId id="256"/>
          </p14:sldIdLst>
        </p14:section>
        <p14:section name="Pesquisa" id="{52E98294-B9AE-47FA-9EA9-EE69EC5CE7F4}">
          <p14:sldIdLst>
            <p14:sldId id="283"/>
            <p14:sldId id="285"/>
            <p14:sldId id="286"/>
            <p14:sldId id="288"/>
            <p14:sldId id="287"/>
            <p14:sldId id="282"/>
            <p14:sldId id="289"/>
            <p14:sldId id="257"/>
          </p14:sldIdLst>
        </p14:section>
        <p14:section name="Sistema e Recursos" id="{D7524C4A-3306-4B19-AD25-E60D9E1E5B66}">
          <p14:sldIdLst>
            <p14:sldId id="274"/>
            <p14:sldId id="276"/>
            <p14:sldId id="291"/>
            <p14:sldId id="295"/>
            <p14:sldId id="292"/>
            <p14:sldId id="297"/>
            <p14:sldId id="298"/>
            <p14:sldId id="299"/>
            <p14:sldId id="300"/>
            <p14:sldId id="275"/>
            <p14:sldId id="278"/>
            <p14:sldId id="261"/>
            <p14:sldId id="262"/>
            <p14:sldId id="273"/>
            <p14:sldId id="277"/>
            <p14:sldId id="260"/>
            <p14:sldId id="290"/>
            <p14:sldId id="264"/>
          </p14:sldIdLst>
        </p14:section>
        <p14:section name="Light Switcher: Hardware" id="{A23B5621-1ECB-43EA-B47E-E71BCBB8FFB1}">
          <p14:sldIdLst>
            <p14:sldId id="266"/>
            <p14:sldId id="263"/>
            <p14:sldId id="265"/>
            <p14:sldId id="267"/>
            <p14:sldId id="268"/>
            <p14:sldId id="270"/>
            <p14:sldId id="279"/>
            <p14:sldId id="280"/>
          </p14:sldIdLst>
        </p14:section>
        <p14:section name="Almost There Feat. Ending..." id="{57B013D3-E823-40DC-A143-E95A3DDC1CA4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1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2/21/21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48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2/21/21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412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554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2/21/21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38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782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2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235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57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51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008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951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607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305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4935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9237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31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709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2/21/21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744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8422B-F3C4-43D0-ABA2-3BA26777CA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Light Switcher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95FA51-5C81-436E-B92F-3165FBAB7A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Hbisneto</a:t>
            </a:r>
            <a:br>
              <a:rPr lang="pt-BR" dirty="0"/>
            </a:br>
            <a:r>
              <a:rPr lang="pt-BR" dirty="0"/>
              <a:t>(Um projeto em Arduino)</a:t>
            </a:r>
          </a:p>
        </p:txBody>
      </p:sp>
    </p:spTree>
    <p:extLst>
      <p:ext uri="{BB962C8B-B14F-4D97-AF65-F5344CB8AC3E}">
        <p14:creationId xmlns:p14="http://schemas.microsoft.com/office/powerpoint/2010/main" val="3650909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FF70B-5067-4F2F-AA13-DCCA176BC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Energia Elétrica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F6A336-5A93-4CE1-AA58-C117F51A3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b="1" dirty="0"/>
              <a:t>Energia elétrica</a:t>
            </a:r>
            <a:r>
              <a:rPr lang="pt-BR" dirty="0"/>
              <a:t> é uma forma de </a:t>
            </a:r>
            <a:r>
              <a:rPr lang="pt-BR" b="1" dirty="0"/>
              <a:t>energia</a:t>
            </a:r>
            <a:r>
              <a:rPr lang="pt-BR" dirty="0"/>
              <a:t> baseada na geração de diferenças de potencial elétrico entre dois pontos, que permitem estabelecer uma corrente </a:t>
            </a:r>
            <a:r>
              <a:rPr lang="pt-BR" b="1" dirty="0"/>
              <a:t>elétrica</a:t>
            </a:r>
            <a:r>
              <a:rPr lang="pt-BR" dirty="0"/>
              <a:t> entre ambos.</a:t>
            </a:r>
            <a:br>
              <a:rPr lang="pt-BR" dirty="0"/>
            </a:br>
            <a:r>
              <a:rPr lang="pt-BR" dirty="0"/>
              <a:t>A energia elétrica é obtida principalmente através de termoelétricas, usinas hidrelétricas, usinas eólicas e usinas termonucleares.</a:t>
            </a:r>
            <a:br>
              <a:rPr lang="pt-BR" dirty="0"/>
            </a:br>
            <a:r>
              <a:rPr lang="pt-BR" dirty="0"/>
              <a:t>A distribuição de energia elétrica e outros processos ligados a este sistema são de responsabilidade das empresas de distribuição local, e pode ser feita através de redes aéreas usando postes, isto é normal em zonas rurais e suburbanas, ou redes subterrâneas, em que cabos elétricos são instalados sob o solo no interior de dutos subterrâneos, isto é comum em zonas urbanas e zonas rurais em que os regulamentos de segurança exijam.</a:t>
            </a:r>
          </a:p>
        </p:txBody>
      </p:sp>
    </p:spTree>
    <p:extLst>
      <p:ext uri="{BB962C8B-B14F-4D97-AF65-F5344CB8AC3E}">
        <p14:creationId xmlns:p14="http://schemas.microsoft.com/office/powerpoint/2010/main" val="3739802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11051-8E47-4FAE-B72D-FBAB6C1AC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Distribuição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5DE23F6-75E8-4D1B-AC5F-F31080BF5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2966" b="17703"/>
          <a:stretch/>
        </p:blipFill>
        <p:spPr>
          <a:xfrm>
            <a:off x="1840094" y="2557993"/>
            <a:ext cx="8511812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4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8569E-2827-40C2-A079-09F04D29A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é Composta a Tarifa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BEDD10-7EDE-4B19-A307-B3B988902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Para cumprir o compromisso de fornecer energia elétrica com qualidade, a distribuidora tem custos que devem ser avaliados na definição das tarifas. A tarifa considera três custos distintos, além de tarifas governamentais, estaduais, municipais e outras como as descritas abaixo:</a:t>
            </a:r>
          </a:p>
          <a:p>
            <a:r>
              <a:rPr lang="pt-BR" dirty="0"/>
              <a:t>Energia Gerada</a:t>
            </a:r>
          </a:p>
          <a:p>
            <a:r>
              <a:rPr lang="pt-BR" dirty="0"/>
              <a:t>Transporte de Energia</a:t>
            </a:r>
          </a:p>
          <a:p>
            <a:r>
              <a:rPr lang="pt-BR" dirty="0"/>
              <a:t>Encargos Setoriais</a:t>
            </a:r>
          </a:p>
          <a:p>
            <a:r>
              <a:rPr lang="pt-BR" dirty="0"/>
              <a:t>PIS/COFINS</a:t>
            </a:r>
          </a:p>
          <a:p>
            <a:r>
              <a:rPr lang="pt-BR" dirty="0"/>
              <a:t>ICMS</a:t>
            </a:r>
          </a:p>
          <a:p>
            <a:r>
              <a:rPr lang="pt-BR" dirty="0"/>
              <a:t>Contribuição Para Iluminação Pública:</a:t>
            </a:r>
          </a:p>
        </p:txBody>
      </p:sp>
    </p:spTree>
    <p:extLst>
      <p:ext uri="{BB962C8B-B14F-4D97-AF65-F5344CB8AC3E}">
        <p14:creationId xmlns:p14="http://schemas.microsoft.com/office/powerpoint/2010/main" val="1172336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0FA0A-CC3B-41C5-ABEF-328CF55CF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é Composta a Tarifa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1FA6888-3588-4A9C-BE20-685DD50929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8027" y="2950511"/>
            <a:ext cx="4935945" cy="2925357"/>
          </a:xfrm>
        </p:spPr>
      </p:pic>
    </p:spTree>
    <p:extLst>
      <p:ext uri="{BB962C8B-B14F-4D97-AF65-F5344CB8AC3E}">
        <p14:creationId xmlns:p14="http://schemas.microsoft.com/office/powerpoint/2010/main" val="4169420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A2092-2530-418E-B89E-649EC2155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Média de Gasto de Energia Elétrica</a:t>
            </a:r>
            <a:br>
              <a:rPr lang="pt-BR" dirty="0"/>
            </a:br>
            <a:r>
              <a:rPr lang="pt-BR" dirty="0"/>
              <a:t>(No estado de </a:t>
            </a:r>
            <a:r>
              <a:rPr lang="pt-BR" dirty="0">
                <a:solidFill>
                  <a:schemeClr val="bg1"/>
                </a:solidFill>
                <a:highlight>
                  <a:srgbClr val="000000"/>
                </a:highlight>
              </a:rPr>
              <a:t>S</a:t>
            </a:r>
            <a:r>
              <a:rPr lang="pt-BR" dirty="0">
                <a:solidFill>
                  <a:schemeClr val="bg1"/>
                </a:solidFill>
                <a:highlight>
                  <a:srgbClr val="FF0000"/>
                </a:highlight>
              </a:rPr>
              <a:t>P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C7EA2C-758C-441F-9759-D8DAC1115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O consumo de energia elétrica no Estado de São Paulo somou 21.270 gigawatts/hora (GWh) no primeiro bimestre de 2017, o que corresponde a um crescimento de 0,36% em relação ao verificado no mesmo período do ano de 2016, que foi de 21.194 GWh, informou a Secretaria Estadual de Energia e Mineração.</a:t>
            </a:r>
          </a:p>
          <a:p>
            <a:pPr marL="0" indent="0">
              <a:buNone/>
            </a:pPr>
            <a:r>
              <a:rPr lang="pt-BR" dirty="0"/>
              <a:t>Em nota, o secretário de Energia e Mineração do Estado de São Paulo, João Carlos Meirelles, afirmou que os números demonstram que a recuperação econômica dos últimos meses ainda não é sentida pelo mercado.</a:t>
            </a:r>
          </a:p>
        </p:txBody>
      </p:sp>
    </p:spTree>
    <p:extLst>
      <p:ext uri="{BB962C8B-B14F-4D97-AF65-F5344CB8AC3E}">
        <p14:creationId xmlns:p14="http://schemas.microsoft.com/office/powerpoint/2010/main" val="4280049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A2092-2530-418E-B89E-649EC2155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Média de Gasto de Energia Elétrica</a:t>
            </a:r>
            <a:br>
              <a:rPr lang="pt-BR" dirty="0"/>
            </a:br>
            <a:r>
              <a:rPr lang="pt-BR" dirty="0"/>
              <a:t>(No estado de </a:t>
            </a:r>
            <a:r>
              <a:rPr lang="pt-BR" dirty="0">
                <a:solidFill>
                  <a:schemeClr val="bg1"/>
                </a:solidFill>
                <a:highlight>
                  <a:srgbClr val="000000"/>
                </a:highlight>
              </a:rPr>
              <a:t>S</a:t>
            </a:r>
            <a:r>
              <a:rPr lang="pt-BR" dirty="0">
                <a:solidFill>
                  <a:schemeClr val="bg1"/>
                </a:solidFill>
                <a:highlight>
                  <a:srgbClr val="FF0000"/>
                </a:highlight>
              </a:rPr>
              <a:t>P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C7EA2C-758C-441F-9759-D8DAC1115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Dentre os segmentos de consumo, as residências demandaram 6.613 </a:t>
            </a:r>
            <a:r>
              <a:rPr lang="pt-BR" dirty="0" err="1"/>
              <a:t>GWh</a:t>
            </a:r>
            <a:r>
              <a:rPr lang="pt-BR" dirty="0"/>
              <a:t> no período, ou 0,87% mais que o verificado nos dois primeiros meses do ano passado, enquanto as indústrias consumiram 7.354 </a:t>
            </a:r>
            <a:r>
              <a:rPr lang="pt-BR" dirty="0" err="1"/>
              <a:t>GWh</a:t>
            </a:r>
            <a:r>
              <a:rPr lang="pt-BR" dirty="0"/>
              <a:t>, alta de 0,77%. Já o comércio apresentou queda de 1,26%, com um consumo de 4.945 </a:t>
            </a:r>
            <a:r>
              <a:rPr lang="pt-BR" dirty="0" err="1"/>
              <a:t>GWh</a:t>
            </a:r>
            <a:r>
              <a:rPr lang="pt-BR" dirty="0"/>
              <a:t> no bimestre, ante os 5.008 </a:t>
            </a:r>
            <a:r>
              <a:rPr lang="pt-BR" dirty="0" err="1"/>
              <a:t>GWh</a:t>
            </a:r>
            <a:r>
              <a:rPr lang="pt-BR" dirty="0"/>
              <a:t> no período anterior.</a:t>
            </a:r>
          </a:p>
        </p:txBody>
      </p:sp>
    </p:spTree>
    <p:extLst>
      <p:ext uri="{BB962C8B-B14F-4D97-AF65-F5344CB8AC3E}">
        <p14:creationId xmlns:p14="http://schemas.microsoft.com/office/powerpoint/2010/main" val="1145911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A2092-2530-418E-B89E-649EC2155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Média de Gasto de Energia Elétrica</a:t>
            </a:r>
            <a:br>
              <a:rPr lang="pt-BR" dirty="0"/>
            </a:br>
            <a:r>
              <a:rPr lang="pt-BR" dirty="0"/>
              <a:t>(No </a:t>
            </a:r>
            <a:r>
              <a:rPr lang="pt-BR" dirty="0">
                <a:solidFill>
                  <a:srgbClr val="0070C0"/>
                </a:solidFill>
                <a:highlight>
                  <a:srgbClr val="00FF00"/>
                </a:highlight>
              </a:rPr>
              <a:t>B</a:t>
            </a:r>
            <a:r>
              <a:rPr lang="pt-BR" dirty="0">
                <a:solidFill>
                  <a:srgbClr val="0070C0"/>
                </a:solidFill>
                <a:highlight>
                  <a:srgbClr val="FFFF00"/>
                </a:highlight>
              </a:rPr>
              <a:t>R</a:t>
            </a:r>
            <a:r>
              <a:rPr lang="pt-BR" dirty="0">
                <a:solidFill>
                  <a:srgbClr val="0070C0"/>
                </a:solidFill>
                <a:highlight>
                  <a:srgbClr val="00FF00"/>
                </a:highlight>
              </a:rPr>
              <a:t>A</a:t>
            </a:r>
            <a:r>
              <a:rPr lang="pt-BR" dirty="0">
                <a:solidFill>
                  <a:srgbClr val="0070C0"/>
                </a:solidFill>
                <a:highlight>
                  <a:srgbClr val="FFFF00"/>
                </a:highlight>
              </a:rPr>
              <a:t>S</a:t>
            </a:r>
            <a:r>
              <a:rPr lang="pt-BR" dirty="0">
                <a:solidFill>
                  <a:srgbClr val="0070C0"/>
                </a:solidFill>
                <a:highlight>
                  <a:srgbClr val="00FF00"/>
                </a:highlight>
              </a:rPr>
              <a:t>I</a:t>
            </a:r>
            <a:r>
              <a:rPr lang="pt-BR" dirty="0">
                <a:solidFill>
                  <a:srgbClr val="0070C0"/>
                </a:solidFill>
                <a:highlight>
                  <a:srgbClr val="FFFF00"/>
                </a:highlight>
              </a:rPr>
              <a:t>L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C7EA2C-758C-441F-9759-D8DAC1115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O consumo de energia em todo o País totalizou 77.901 </a:t>
            </a:r>
            <a:r>
              <a:rPr lang="pt-BR" dirty="0" err="1"/>
              <a:t>GWh</a:t>
            </a:r>
            <a:r>
              <a:rPr lang="pt-BR" dirty="0"/>
              <a:t> no acumulado de janeiro e fevereiro, o que representa um aumento de 1,5% ante o reportado em igual etapa de 2016.</a:t>
            </a:r>
          </a:p>
          <a:p>
            <a:pPr marL="0" indent="0">
              <a:buNone/>
            </a:pPr>
            <a:r>
              <a:rPr lang="pt-BR" dirty="0"/>
              <a:t>O segmento comercial apresentou leve retração, de 0,1% no período, enquanto as residências aumentaram sua demanda em 0,9%, e as indústrias consumiram 1,7% mais.</a:t>
            </a:r>
          </a:p>
        </p:txBody>
      </p:sp>
    </p:spTree>
    <p:extLst>
      <p:ext uri="{BB962C8B-B14F-4D97-AF65-F5344CB8AC3E}">
        <p14:creationId xmlns:p14="http://schemas.microsoft.com/office/powerpoint/2010/main" val="3808226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037D9-4CC1-4634-8892-9666025BCD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5962" y="982131"/>
            <a:ext cx="3660775" cy="1325562"/>
          </a:xfrm>
        </p:spPr>
        <p:txBody>
          <a:bodyPr anchor="b">
            <a:normAutofit/>
          </a:bodyPr>
          <a:lstStyle/>
          <a:p>
            <a:r>
              <a:rPr lang="pt-BR" sz="2400" dirty="0"/>
              <a:t>Um dos países que mais desperdiça energia elétrica do mundo!</a:t>
            </a:r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A50A57AB-9B53-499A-BC12-2F87ADAE1FA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1273174" y="2307693"/>
            <a:ext cx="2546350" cy="3576306"/>
          </a:xfrm>
          <a:effectLst>
            <a:outerShdw blurRad="50800" dist="279400" dir="1800000" algn="ctr" rotWithShape="0">
              <a:srgbClr val="000000">
                <a:alpha val="20000"/>
              </a:srgbClr>
            </a:outerShdw>
            <a:reflection stA="16000" endPos="10000" dist="50800" dir="5400000" sy="-100000" algn="bl" rotWithShape="0"/>
          </a:effectLst>
        </p:spPr>
      </p:pic>
      <p:pic>
        <p:nvPicPr>
          <p:cNvPr id="11" name="Espaço Reservado para Conteúdo 7">
            <a:extLst>
              <a:ext uri="{FF2B5EF4-FFF2-40B4-BE49-F238E27FC236}">
                <a16:creationId xmlns:a16="http://schemas.microsoft.com/office/drawing/2014/main" id="{BED087BA-BAA8-443E-8CF4-24C6A439C6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438" r="22696"/>
          <a:stretch/>
        </p:blipFill>
        <p:spPr>
          <a:xfrm>
            <a:off x="5418669" y="982131"/>
            <a:ext cx="5481177" cy="4901868"/>
          </a:xfrm>
          <a:prstGeom prst="rect">
            <a:avLst/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outerShdw blurRad="50800" dist="279400" dir="1800000" algn="ctr" rotWithShape="0">
              <a:srgbClr val="000000">
                <a:alpha val="20000"/>
              </a:srgbClr>
            </a:outerShdw>
            <a:reflection stA="16000" endPos="10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>
            <a:bevelT w="0" h="0"/>
          </a:sp3d>
        </p:spPr>
      </p:pic>
    </p:spTree>
    <p:extLst>
      <p:ext uri="{BB962C8B-B14F-4D97-AF65-F5344CB8AC3E}">
        <p14:creationId xmlns:p14="http://schemas.microsoft.com/office/powerpoint/2010/main" val="4022157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F381D72C-32FA-4A8C-951C-0FA46E1974A3}"/>
              </a:ext>
            </a:extLst>
          </p:cNvPr>
          <p:cNvSpPr txBox="1">
            <a:spLocks/>
          </p:cNvSpPr>
          <p:nvPr/>
        </p:nvSpPr>
        <p:spPr>
          <a:xfrm>
            <a:off x="1295402" y="4275479"/>
            <a:ext cx="9601196" cy="130386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Light 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F89E922-E566-4689-B37F-3CA4A8F60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651" y="1414781"/>
            <a:ext cx="2860698" cy="286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399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250B4-C474-4BA2-8D54-0DF83BE9F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Light 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FB739A-887E-42C3-B6CF-160AA0E51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Software controlador de placas Arduino.</a:t>
            </a:r>
          </a:p>
          <a:p>
            <a:r>
              <a:rPr lang="pt-BR" dirty="0"/>
              <a:t>Gerenciador de todos os processos matemáticos e econômicos.</a:t>
            </a:r>
            <a:br>
              <a:rPr lang="pt-BR" dirty="0"/>
            </a:br>
            <a:r>
              <a:rPr lang="pt-BR" dirty="0"/>
              <a:t>- Auxilia no processo de cálculos das contas.</a:t>
            </a:r>
            <a:br>
              <a:rPr lang="pt-BR" dirty="0"/>
            </a:br>
            <a:r>
              <a:rPr lang="pt-BR" dirty="0"/>
              <a:t>- Calcula os gastos com a energia e gera resultados mensais, semanais e diários.</a:t>
            </a:r>
          </a:p>
          <a:p>
            <a:r>
              <a:rPr lang="pt-BR" dirty="0"/>
              <a:t>Responsável pelas tomadas de decisões necessárias para economia elétrica.</a:t>
            </a:r>
            <a:br>
              <a:rPr lang="pt-BR" dirty="0"/>
            </a:br>
            <a:r>
              <a:rPr lang="pt-BR" dirty="0"/>
              <a:t>- Controla a atividade de lâmpadas de uma residência.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7F6E502-4776-43B4-8394-2528D512D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982132"/>
            <a:ext cx="1300317" cy="13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000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A71C5-F52B-4D31-95DE-3704422DE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/>
          <a:lstStyle/>
          <a:p>
            <a:r>
              <a:rPr lang="pt-BR" dirty="0"/>
              <a:t>Principais Recursos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B39C06E-BE2A-4621-8E7C-00794E001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2" y="985682"/>
            <a:ext cx="1300317" cy="13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06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A71C5-F52B-4D31-95DE-3704422DE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Recursos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E3EAB5-01A5-4426-92FA-ED0A67DCC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603" y="2625074"/>
            <a:ext cx="3250794" cy="325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DE69105-CF30-49EF-97DB-EC70C07C5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2" y="985682"/>
            <a:ext cx="1300317" cy="13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406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A71C5-F52B-4D31-95DE-3704422DE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Recursos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E3EAB5-01A5-4426-92FA-ED0A67DCC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818" y="3360375"/>
            <a:ext cx="1625397" cy="162539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7172ECB-7E73-464A-A783-26EE4231FFB7}"/>
              </a:ext>
            </a:extLst>
          </p:cNvPr>
          <p:cNvSpPr txBox="1">
            <a:spLocks/>
          </p:cNvSpPr>
          <p:nvPr/>
        </p:nvSpPr>
        <p:spPr>
          <a:xfrm>
            <a:off x="1295402" y="5220702"/>
            <a:ext cx="3836231" cy="65516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Controle de Pais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0BDD987-5076-4244-BE6F-63E9873DC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2" y="985682"/>
            <a:ext cx="1300317" cy="13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414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A71C5-F52B-4D31-95DE-3704422DE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Recursos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E3EAB5-01A5-4426-92FA-ED0A67DCC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818" y="3360375"/>
            <a:ext cx="1625397" cy="162539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7172ECB-7E73-464A-A783-26EE4231FFB7}"/>
              </a:ext>
            </a:extLst>
          </p:cNvPr>
          <p:cNvSpPr txBox="1">
            <a:spLocks/>
          </p:cNvSpPr>
          <p:nvPr/>
        </p:nvSpPr>
        <p:spPr>
          <a:xfrm>
            <a:off x="1295402" y="5220702"/>
            <a:ext cx="3836231" cy="65516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Controle de Pais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EEBEA15-D956-46A1-A65C-2F2C6EDDD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603" y="2547676"/>
            <a:ext cx="3250794" cy="325079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6CF4E22-2E7A-4A57-B587-4CED9427A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2" y="985682"/>
            <a:ext cx="1300317" cy="13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852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A71C5-F52B-4D31-95DE-3704422DE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Recursos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E3EAB5-01A5-4426-92FA-ED0A67DCC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818" y="3360375"/>
            <a:ext cx="1625397" cy="162539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7172ECB-7E73-464A-A783-26EE4231FFB7}"/>
              </a:ext>
            </a:extLst>
          </p:cNvPr>
          <p:cNvSpPr txBox="1">
            <a:spLocks/>
          </p:cNvSpPr>
          <p:nvPr/>
        </p:nvSpPr>
        <p:spPr>
          <a:xfrm>
            <a:off x="1295402" y="5220702"/>
            <a:ext cx="3836231" cy="65516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Controle de Pais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E9480EF-ED22-44CB-9D2A-F04B0C16AB45}"/>
              </a:ext>
            </a:extLst>
          </p:cNvPr>
          <p:cNvSpPr txBox="1">
            <a:spLocks/>
          </p:cNvSpPr>
          <p:nvPr/>
        </p:nvSpPr>
        <p:spPr>
          <a:xfrm>
            <a:off x="7060367" y="5220702"/>
            <a:ext cx="3836231" cy="65516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Não Perturbe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85FBF48-15F3-4C75-9C58-D862CD56F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87" y="3360374"/>
            <a:ext cx="1625397" cy="162539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8BBBC16-B801-44BD-9418-8CA1CFCBB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2" y="985682"/>
            <a:ext cx="1300317" cy="13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66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A71C5-F52B-4D31-95DE-3704422DE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Recursos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E3EAB5-01A5-4426-92FA-ED0A67DCC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818" y="3360375"/>
            <a:ext cx="1625397" cy="162539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7172ECB-7E73-464A-A783-26EE4231FFB7}"/>
              </a:ext>
            </a:extLst>
          </p:cNvPr>
          <p:cNvSpPr txBox="1">
            <a:spLocks/>
          </p:cNvSpPr>
          <p:nvPr/>
        </p:nvSpPr>
        <p:spPr>
          <a:xfrm>
            <a:off x="1295402" y="5220702"/>
            <a:ext cx="3836231" cy="65516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Controle de Pais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E9480EF-ED22-44CB-9D2A-F04B0C16AB45}"/>
              </a:ext>
            </a:extLst>
          </p:cNvPr>
          <p:cNvSpPr txBox="1">
            <a:spLocks/>
          </p:cNvSpPr>
          <p:nvPr/>
        </p:nvSpPr>
        <p:spPr>
          <a:xfrm>
            <a:off x="7060367" y="5220702"/>
            <a:ext cx="3836231" cy="65516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Não Perturbe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85FBF48-15F3-4C75-9C58-D862CD56F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87" y="3360374"/>
            <a:ext cx="1625397" cy="162539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2F7FC79-07D2-4926-9B7F-D9D2288D7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055" y="2872755"/>
            <a:ext cx="1300317" cy="130031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F75CB97-B043-4F88-A8C3-7D447A773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2" y="985682"/>
            <a:ext cx="1300317" cy="13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187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A71C5-F52B-4D31-95DE-3704422DE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Recursos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E3EAB5-01A5-4426-92FA-ED0A67DCC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818" y="3360375"/>
            <a:ext cx="1625397" cy="162539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7172ECB-7E73-464A-A783-26EE4231FFB7}"/>
              </a:ext>
            </a:extLst>
          </p:cNvPr>
          <p:cNvSpPr txBox="1">
            <a:spLocks/>
          </p:cNvSpPr>
          <p:nvPr/>
        </p:nvSpPr>
        <p:spPr>
          <a:xfrm>
            <a:off x="1295402" y="5220702"/>
            <a:ext cx="3836231" cy="65516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Controle de Pais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E9480EF-ED22-44CB-9D2A-F04B0C16AB45}"/>
              </a:ext>
            </a:extLst>
          </p:cNvPr>
          <p:cNvSpPr txBox="1">
            <a:spLocks/>
          </p:cNvSpPr>
          <p:nvPr/>
        </p:nvSpPr>
        <p:spPr>
          <a:xfrm>
            <a:off x="7060367" y="5220702"/>
            <a:ext cx="3836231" cy="65516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Não Perturbe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85FBF48-15F3-4C75-9C58-D862CD56F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87" y="3360374"/>
            <a:ext cx="1625397" cy="162539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2F7FC79-07D2-4926-9B7F-D9D2288D7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055" y="2872755"/>
            <a:ext cx="1300317" cy="130031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08398C8-E0A1-4EC4-A216-45FF06E81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8482" y="2710215"/>
            <a:ext cx="1300317" cy="130031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8F7B380-F7A5-4326-84AD-D614E658E5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2" y="985682"/>
            <a:ext cx="1300317" cy="13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F381D72C-32FA-4A8C-951C-0FA46E1974A3}"/>
              </a:ext>
            </a:extLst>
          </p:cNvPr>
          <p:cNvSpPr txBox="1">
            <a:spLocks/>
          </p:cNvSpPr>
          <p:nvPr/>
        </p:nvSpPr>
        <p:spPr>
          <a:xfrm>
            <a:off x="1295402" y="5054397"/>
            <a:ext cx="9601196" cy="130386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Não Perturbe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CC41403-2B28-45A1-BD5D-812C6AA2F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603" y="1803603"/>
            <a:ext cx="3250794" cy="325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09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250B4-C474-4BA2-8D54-0DF83BE9F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Não Perturbe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FB739A-887E-42C3-B6CF-160AA0E51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Gerenciador de Luz ambiente em horários onde não há movimentação por parte dos moradores da residência.</a:t>
            </a:r>
          </a:p>
          <a:p>
            <a:r>
              <a:rPr lang="pt-BR" dirty="0"/>
              <a:t>O recurso coloca o Light Switcher em modo de economia de energia, fazendo com que alguns sensores sejam desligados durante o modo de ativação desse recurso.</a:t>
            </a:r>
          </a:p>
          <a:p>
            <a:r>
              <a:rPr lang="pt-BR" b="1" dirty="0"/>
              <a:t>Observação:</a:t>
            </a:r>
            <a:r>
              <a:rPr lang="pt-BR" dirty="0"/>
              <a:t> Os cálculos de consumo não serão afetados durante a ativação do Não Perturbe.</a:t>
            </a:r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7946DB2-4806-432A-A596-920E8392F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982132"/>
            <a:ext cx="1300317" cy="13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73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3A9604-ABF9-461E-980E-2C48817A9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Não Perturbe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52C709-19DE-4DF5-8AFC-14FA96119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recurso visa no silêncio e calma do ambiente, mantendo, assim, as luzes apagadas diariamente dentro de um horário estipulado. Função ideal para ser usada a noite.</a:t>
            </a:r>
          </a:p>
          <a:p>
            <a:r>
              <a:rPr lang="pt-BR" dirty="0"/>
              <a:t>O recurso não desabilita o sensor de movimento, porém, é necessário acender a luz pelo controle ou pelo aplicativo móvel do dispositivo, que está disponível na </a:t>
            </a:r>
            <a:r>
              <a:rPr lang="pt-BR" b="1" dirty="0"/>
              <a:t>AppStore</a:t>
            </a:r>
            <a:r>
              <a:rPr lang="pt-BR" dirty="0"/>
              <a:t> &amp; </a:t>
            </a:r>
            <a:r>
              <a:rPr lang="pt-BR" b="1" dirty="0"/>
              <a:t>PlayStore</a:t>
            </a:r>
            <a:r>
              <a:rPr lang="pt-BR" dirty="0"/>
              <a:t>.</a:t>
            </a:r>
          </a:p>
          <a:p>
            <a:r>
              <a:rPr lang="pt-BR" dirty="0"/>
              <a:t>O Sistema de </a:t>
            </a:r>
            <a:r>
              <a:rPr lang="pt-BR" b="1" dirty="0"/>
              <a:t>Controle de Pais</a:t>
            </a:r>
            <a:r>
              <a:rPr lang="pt-BR" dirty="0"/>
              <a:t>, funcionará normalmente (Se ativado)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EA5D76E-7D4C-4267-95AD-F9B123965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982132"/>
            <a:ext cx="1300317" cy="13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5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E61F402-3445-458A-9A2B-D28FD2883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673C096-95AE-4644-B76C-1DF1B667D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7A91835-418B-4867-87D7-1376A57F3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B511A1-E0EC-49FE-8068-9DA29CD0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A61BC5F-ADA4-4DBA-9C6B-E17E0B82E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CE6F7D2-ACED-47D2-BEFD-FB26F7537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33A9604-ABF9-461E-980E-2C48817A9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3660056" cy="1325373"/>
          </a:xfrm>
        </p:spPr>
        <p:txBody>
          <a:bodyPr anchor="b">
            <a:normAutofit/>
          </a:bodyPr>
          <a:lstStyle/>
          <a:p>
            <a:r>
              <a:rPr lang="pt-BR" sz="2800" dirty="0">
                <a:solidFill>
                  <a:srgbClr val="262626"/>
                </a:solidFill>
              </a:rPr>
              <a:t>Não Perturbe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BE880E9-2B86-4CDB-B5B7-308745CDD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1" y="2400639"/>
            <a:ext cx="3660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52C709-19DE-4DF5-8AFC-14FA96119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93774"/>
            <a:ext cx="3660057" cy="3382094"/>
          </a:xfrm>
        </p:spPr>
        <p:txBody>
          <a:bodyPr>
            <a:normAutofit/>
          </a:bodyPr>
          <a:lstStyle/>
          <a:p>
            <a:pPr algn="ctr"/>
            <a:r>
              <a:rPr lang="pt-BR" sz="1600" dirty="0"/>
              <a:t>“O recurso visa no silêncio e calma do ambiente, mantendo, assim, as luzes apagadas diariamente dentro de um horário estipulado. Função ideal para ser usada a noite.”</a:t>
            </a:r>
            <a:endParaRPr lang="pt-BR" sz="1600" dirty="0">
              <a:solidFill>
                <a:srgbClr val="262626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0484B1C-5621-4FC7-A58A-E0E2BC585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6533" y="982131"/>
            <a:ext cx="4893735" cy="4893735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982834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1B07297-740B-48D7-9314-2D8B3F662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603" y="1803603"/>
            <a:ext cx="3250794" cy="3250794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F381D72C-32FA-4A8C-951C-0FA46E1974A3}"/>
              </a:ext>
            </a:extLst>
          </p:cNvPr>
          <p:cNvSpPr txBox="1">
            <a:spLocks/>
          </p:cNvSpPr>
          <p:nvPr/>
        </p:nvSpPr>
        <p:spPr>
          <a:xfrm>
            <a:off x="1295402" y="5054397"/>
            <a:ext cx="9601196" cy="130386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Controle de Pais</a:t>
            </a:r>
          </a:p>
        </p:txBody>
      </p:sp>
    </p:spTree>
    <p:extLst>
      <p:ext uri="{BB962C8B-B14F-4D97-AF65-F5344CB8AC3E}">
        <p14:creationId xmlns:p14="http://schemas.microsoft.com/office/powerpoint/2010/main" val="396544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250B4-C474-4BA2-8D54-0DF83BE9F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/>
          <a:lstStyle/>
          <a:p>
            <a:r>
              <a:rPr lang="pt-BR" dirty="0"/>
              <a:t>Controle de Pais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FB739A-887E-42C3-B6CF-160AA0E51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O Controle de Pais é um recurso do Sistema Light OS que monitora as atividades de uma determinada lâmpada de um cômodo da residência, como o quarto dos filhos, por exemplo.</a:t>
            </a:r>
          </a:p>
          <a:p>
            <a:r>
              <a:rPr lang="pt-BR" dirty="0"/>
              <a:t>O recurso dispara notificações no App do dispositivo (Se instalado) quando uma luz é acesa, além de mandar mensagens de texto para o número de celular cadastrado no sistema Light OS.</a:t>
            </a:r>
          </a:p>
          <a:p>
            <a:r>
              <a:rPr lang="pt-BR" dirty="0"/>
              <a:t>O Controle de Pais reúne informações como: Cômodo Ativo, Data de Ativação, Hora de Ativação e etc.</a:t>
            </a:r>
          </a:p>
          <a:p>
            <a:r>
              <a:rPr lang="pt-BR" b="1" dirty="0"/>
              <a:t>Observação:</a:t>
            </a:r>
            <a:r>
              <a:rPr lang="pt-BR" dirty="0"/>
              <a:t> Quando um cômodo for desativado, o gerenciador mostrará a data e hora de desativação, mas não serão disparados </a:t>
            </a:r>
            <a:r>
              <a:rPr lang="pt-BR" dirty="0" err="1"/>
              <a:t>SMSs</a:t>
            </a: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E204D6C-5F03-4D20-A0E5-9EBD14E2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985682"/>
            <a:ext cx="1300317" cy="13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65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5211A-9DFA-4F07-990D-4F5403BC5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/>
          <a:lstStyle/>
          <a:p>
            <a:r>
              <a:rPr lang="pt-BR" dirty="0"/>
              <a:t>Controle de Pais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80BB04-3004-4E20-A735-2F0F35DD1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/>
          <a:lstStyle/>
          <a:p>
            <a:r>
              <a:rPr lang="pt-BR"/>
              <a:t>O sistema irá gerenciar dispositivos conectados e informará tentativas de conexão (Controle dos Pais)</a:t>
            </a:r>
          </a:p>
          <a:p>
            <a:r>
              <a:rPr lang="pt-BR"/>
              <a:t>MessageAlerts: De acordo com o horário de “</a:t>
            </a:r>
            <a:r>
              <a:rPr lang="pt-BR" b="1"/>
              <a:t>Não Perturbe</a:t>
            </a:r>
            <a:r>
              <a:rPr lang="pt-BR"/>
              <a:t>”, o sistema irá disparar uma mensagem de texto para o Celular do usuário informando tentativa de conexão.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5CC8C64-D42B-4148-875A-0EB820A5A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985682"/>
            <a:ext cx="1300317" cy="13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671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7C691-1C77-412A-B3A9-629B09D0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Permissões / Privacidade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C7304E-5B87-41E3-8D16-5D0ED56CE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O Light Switcher gerencia acessos de usuários através da rede Wi-Fi ou pelo próprio Bluetooth e respeita as regras de permissões concedidas por um usuário administrador.</a:t>
            </a:r>
            <a:br>
              <a:rPr lang="pt-BR" dirty="0"/>
            </a:br>
            <a:r>
              <a:rPr lang="pt-BR" b="1" dirty="0"/>
              <a:t>- Administrator:</a:t>
            </a:r>
            <a:r>
              <a:rPr lang="pt-BR" dirty="0"/>
              <a:t> O Administrador tem acesso total a todos os relatórios de economia de energia elétrica e ainda ajusta os recursos “Controle de Pais” e “Não Perturbe”, além da autonomia de controle total das lâmpadas de um determinado território particular. (Residências/Corporações)</a:t>
            </a:r>
            <a:br>
              <a:rPr lang="pt-BR" dirty="0"/>
            </a:br>
            <a:r>
              <a:rPr lang="pt-BR" b="1" dirty="0"/>
              <a:t>- Children: </a:t>
            </a:r>
            <a:r>
              <a:rPr lang="pt-BR" dirty="0"/>
              <a:t>Têm permissão para ligarem/desligarem as lâmpadas de um determinado cômodo e alterar modos de execução do dispositivo.</a:t>
            </a:r>
            <a:br>
              <a:rPr lang="pt-BR" dirty="0"/>
            </a:br>
            <a:r>
              <a:rPr lang="pt-BR" dirty="0"/>
              <a:t>NÃO tem acesso a relatórios de economia de energia elétrica. NÃO ajusta os recursos “Controle de Pais” e “Não Perturbe”.</a:t>
            </a:r>
            <a:endParaRPr lang="pt-BR" b="1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1232FAB-D187-47D0-9F24-2DFB558EB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987153"/>
            <a:ext cx="1300317" cy="13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942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7C691-1C77-412A-B3A9-629B09D0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Segurança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C7304E-5B87-41E3-8D16-5D0ED56CE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Fortaleza: </a:t>
            </a:r>
            <a:r>
              <a:rPr lang="pt-BR" dirty="0"/>
              <a:t>Apenas o administrador tem acesso ás informações de cálculos e médias de gastos.</a:t>
            </a:r>
            <a:br>
              <a:rPr lang="pt-BR" dirty="0"/>
            </a:br>
            <a:r>
              <a:rPr lang="pt-BR" dirty="0"/>
              <a:t>- O primeiro dispositivo conectado se torna administrador por padrão.</a:t>
            </a:r>
            <a:br>
              <a:rPr lang="pt-BR" dirty="0"/>
            </a:br>
            <a:r>
              <a:rPr lang="pt-BR" dirty="0"/>
              <a:t>- O setup de configuração é acionado na instalação do sistema (que é feito via Android ou iOS)</a:t>
            </a:r>
            <a:br>
              <a:rPr lang="pt-BR" dirty="0"/>
            </a:br>
            <a:r>
              <a:rPr lang="pt-BR" dirty="0"/>
              <a:t>- Se o recurso “Controle de Pais” estiver ligado, é necessário a verificação por SMS para mudar a senha de administrador.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726C021-CD64-4FF6-93E4-ADDDB252A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985682"/>
            <a:ext cx="1300317" cy="13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47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7C691-1C77-412A-B3A9-629B09D0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Sensor de Movimento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C7304E-5B87-41E3-8D16-5D0ED56CE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Sensor de Movimento tem dois tipos de controladores via Software: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- Cão de Guarda:</a:t>
            </a:r>
            <a:r>
              <a:rPr lang="pt-BR" dirty="0"/>
              <a:t> Ativado somente quando o modo “Não Perturbe!” estiver ativado. (De acordo com as politicas do recurso “Controle dos Pais”)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- Sempre Acordado:</a:t>
            </a:r>
            <a:r>
              <a:rPr lang="pt-BR" dirty="0"/>
              <a:t> Monitora o ambiente 24h por dia, usando uma tecnologia de sensor em 360° para não apagar as luzes enquanto alguém estiver no ambiente.</a:t>
            </a:r>
          </a:p>
        </p:txBody>
      </p:sp>
    </p:spTree>
    <p:extLst>
      <p:ext uri="{BB962C8B-B14F-4D97-AF65-F5344CB8AC3E}">
        <p14:creationId xmlns:p14="http://schemas.microsoft.com/office/powerpoint/2010/main" val="24483146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7C691-1C77-412A-B3A9-629B09D0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Sensor de Movimento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C7304E-5B87-41E3-8D16-5D0ED56CE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Sensor de Movimento utiliza uma parte independente da eletricidade para que funcione 24h por dia.</a:t>
            </a:r>
          </a:p>
          <a:p>
            <a:r>
              <a:rPr lang="pt-BR" dirty="0"/>
              <a:t>Iluminação – Dual: A combinação perfeita do infravermelho com o Ultra Som.</a:t>
            </a:r>
          </a:p>
          <a:p>
            <a:r>
              <a:rPr lang="pt-BR" dirty="0"/>
              <a:t>O consumo diário de energia utilizada pelo Sensor de Movimento é estimada em (0,36 kW/dia. Uma média de 10,8 kW por mês) que será contabilizada nos resultados diários, semanais ou mensais.</a:t>
            </a:r>
          </a:p>
        </p:txBody>
      </p:sp>
    </p:spTree>
    <p:extLst>
      <p:ext uri="{BB962C8B-B14F-4D97-AF65-F5344CB8AC3E}">
        <p14:creationId xmlns:p14="http://schemas.microsoft.com/office/powerpoint/2010/main" val="4022351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7C691-1C77-412A-B3A9-629B09D0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Minuteria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C7304E-5B87-41E3-8D16-5D0ED56CE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minuterias mantém a iluminação durante um período determinado.</a:t>
            </a:r>
          </a:p>
          <a:p>
            <a:r>
              <a:rPr lang="pt-BR" dirty="0"/>
              <a:t>Sistema muito comum em andares de prédios ou em banheiros.</a:t>
            </a:r>
          </a:p>
          <a:p>
            <a:r>
              <a:rPr lang="pt-BR" dirty="0"/>
              <a:t>Existem 2 tipos de sistemas: </a:t>
            </a:r>
            <a:r>
              <a:rPr lang="pt-BR" b="1" dirty="0"/>
              <a:t>Coletivo </a:t>
            </a:r>
            <a:r>
              <a:rPr lang="pt-BR" dirty="0"/>
              <a:t>e</a:t>
            </a:r>
            <a:r>
              <a:rPr lang="pt-BR" b="1" dirty="0"/>
              <a:t> Individual</a:t>
            </a:r>
            <a:r>
              <a:rPr lang="pt-BR" dirty="0"/>
              <a:t>.</a:t>
            </a:r>
            <a:br>
              <a:rPr lang="pt-BR" dirty="0"/>
            </a:br>
            <a:r>
              <a:rPr lang="pt-BR" b="1" dirty="0"/>
              <a:t>- Sistema Coletivo:</a:t>
            </a:r>
            <a:r>
              <a:rPr lang="pt-BR" dirty="0"/>
              <a:t> Permite ligar as lâmpadas de alguns ambientes ou todos ao mesmo tempo</a:t>
            </a:r>
            <a:br>
              <a:rPr lang="pt-BR" dirty="0"/>
            </a:br>
            <a:r>
              <a:rPr lang="pt-BR" b="1" dirty="0"/>
              <a:t>- Sistema individual:</a:t>
            </a:r>
            <a:r>
              <a:rPr lang="pt-BR" dirty="0"/>
              <a:t> Liga individualmente as lâmpadas de cada ambiente.</a:t>
            </a:r>
          </a:p>
          <a:p>
            <a:r>
              <a:rPr lang="pt-BR" dirty="0"/>
              <a:t>Controle total do tempo estipulado para a minuteria</a:t>
            </a:r>
          </a:p>
        </p:txBody>
      </p:sp>
    </p:spTree>
    <p:extLst>
      <p:ext uri="{BB962C8B-B14F-4D97-AF65-F5344CB8AC3E}">
        <p14:creationId xmlns:p14="http://schemas.microsoft.com/office/powerpoint/2010/main" val="10937743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7C691-1C77-412A-B3A9-629B09D0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1" dirty="0"/>
              <a:t>StandBy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C7304E-5B87-41E3-8D16-5D0ED56CE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Quando o Light Switcher estiver operando em “Minuteria”, é comum que ele fique em </a:t>
            </a:r>
            <a:r>
              <a:rPr lang="pt-BR" i="1" dirty="0"/>
              <a:t>standby </a:t>
            </a:r>
            <a:r>
              <a:rPr lang="pt-BR" dirty="0"/>
              <a:t>por alguns minutos ou horas.</a:t>
            </a:r>
          </a:p>
          <a:p>
            <a:r>
              <a:rPr lang="pt-BR" dirty="0"/>
              <a:t>O consumo de energia elétrica usada pelo Light Switcher será o mesmo, em relação ao dispositivo quando operando normalmente. (Por estar ligado durante o </a:t>
            </a:r>
            <a:r>
              <a:rPr lang="pt-BR" i="1" dirty="0"/>
              <a:t>StandBy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16401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3CA0B-8D61-4E09-8304-846F1E4FB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Modo Economia de Energia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53225F-4BDF-4941-8C3B-97131961D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modo “Economia de Energia” coloca o dispositivo em </a:t>
            </a:r>
            <a:r>
              <a:rPr lang="pt-BR" i="1" dirty="0"/>
              <a:t>standby </a:t>
            </a:r>
            <a:r>
              <a:rPr lang="pt-BR" dirty="0"/>
              <a:t>por um determinado tempo (escolhido pelo usuário, através do Controle ou App)</a:t>
            </a:r>
          </a:p>
          <a:p>
            <a:r>
              <a:rPr lang="pt-BR" dirty="0"/>
              <a:t>É ajustável para ser ativado depois de um determinado horário.</a:t>
            </a:r>
          </a:p>
        </p:txBody>
      </p:sp>
    </p:spTree>
    <p:extLst>
      <p:ext uri="{BB962C8B-B14F-4D97-AF65-F5344CB8AC3E}">
        <p14:creationId xmlns:p14="http://schemas.microsoft.com/office/powerpoint/2010/main" val="18474787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0FF4E2-39BB-4667-B51C-31C3CEBA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Sensores &amp; Periféricos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2398C2-69D7-46F0-989D-BB43DA397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b="1" dirty="0"/>
              <a:t>Placa Arduino X3567: </a:t>
            </a:r>
          </a:p>
          <a:p>
            <a:r>
              <a:rPr lang="pt-BR" b="1" dirty="0"/>
              <a:t>Sensor de Luz Ambiente:</a:t>
            </a:r>
            <a:r>
              <a:rPr lang="pt-BR" dirty="0"/>
              <a:t> Verifica a claridade do dia e mantém as luzes apagadas o maior tempo possível.</a:t>
            </a:r>
          </a:p>
          <a:p>
            <a:r>
              <a:rPr lang="pt-BR" b="1" dirty="0"/>
              <a:t>Sensores de Movimento:</a:t>
            </a:r>
            <a:r>
              <a:rPr lang="pt-BR" dirty="0"/>
              <a:t> Percebe o movimento do local para que as luzes se acendam.</a:t>
            </a:r>
          </a:p>
          <a:p>
            <a:r>
              <a:rPr lang="pt-BR" b="1" dirty="0"/>
              <a:t>Memória Flash de 32 MB:</a:t>
            </a:r>
            <a:r>
              <a:rPr lang="pt-BR" dirty="0"/>
              <a:t> Para armazenamento de informações relacionadas a </a:t>
            </a:r>
            <a:r>
              <a:rPr lang="pt-BR" i="1" dirty="0"/>
              <a:t>reports </a:t>
            </a:r>
            <a:r>
              <a:rPr lang="pt-BR" dirty="0"/>
              <a:t> de informações, cálculos de custos estimados e informações temporárias do sistema.</a:t>
            </a:r>
          </a:p>
          <a:p>
            <a:r>
              <a:rPr lang="pt-BR" b="1" dirty="0"/>
              <a:t>Módulo Wi-Fi:</a:t>
            </a:r>
            <a:r>
              <a:rPr lang="pt-BR" dirty="0"/>
              <a:t> Para a conexão com o app mobile que executa funções de funcionamento.</a:t>
            </a:r>
          </a:p>
          <a:p>
            <a:r>
              <a:rPr lang="pt-BR" b="1" dirty="0"/>
              <a:t>Módulo Bluetooth:</a:t>
            </a:r>
            <a:r>
              <a:rPr lang="pt-BR" dirty="0"/>
              <a:t> Para acesso dos dados quando o Wi-Fi não estiver acessível</a:t>
            </a:r>
          </a:p>
          <a:p>
            <a:r>
              <a:rPr lang="pt-BR" b="1" dirty="0"/>
              <a:t>Módulo Infravermelho:</a:t>
            </a:r>
            <a:r>
              <a:rPr lang="pt-BR" dirty="0"/>
              <a:t> Para comandos dos controle. </a:t>
            </a:r>
          </a:p>
          <a:p>
            <a:r>
              <a:rPr lang="pt-BR" b="1" dirty="0"/>
              <a:t>Módulo SD Card:</a:t>
            </a:r>
            <a:r>
              <a:rPr lang="pt-BR" dirty="0"/>
              <a:t> Para o armazenamento dos dados gerados durante o uso.</a:t>
            </a:r>
          </a:p>
        </p:txBody>
      </p:sp>
    </p:spTree>
    <p:extLst>
      <p:ext uri="{BB962C8B-B14F-4D97-AF65-F5344CB8AC3E}">
        <p14:creationId xmlns:p14="http://schemas.microsoft.com/office/powerpoint/2010/main" val="20309442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F381D72C-32FA-4A8C-951C-0FA46E1974A3}"/>
              </a:ext>
            </a:extLst>
          </p:cNvPr>
          <p:cNvSpPr txBox="1">
            <a:spLocks/>
          </p:cNvSpPr>
          <p:nvPr/>
        </p:nvSpPr>
        <p:spPr>
          <a:xfrm>
            <a:off x="1295402" y="4275479"/>
            <a:ext cx="9601196" cy="130386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Light Switcher: Hardware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593978C-A536-48AD-9558-9FFEABC68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206" y="1024685"/>
            <a:ext cx="3250794" cy="325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2D177A5-8D2F-41F3-B223-69D58DFDC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24685"/>
            <a:ext cx="3250794" cy="325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100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250B4-C474-4BA2-8D54-0DF83BE9F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Hardware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FB739A-887E-42C3-B6CF-160AA0E51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As especificações de Hardware podem ser variadas.</a:t>
            </a:r>
            <a:br>
              <a:rPr lang="pt-BR" dirty="0"/>
            </a:br>
            <a:r>
              <a:rPr lang="pt-BR" dirty="0"/>
              <a:t>- Memoria: SRAM</a:t>
            </a:r>
            <a:br>
              <a:rPr lang="pt-BR" dirty="0"/>
            </a:br>
            <a:r>
              <a:rPr lang="pt-BR" dirty="0"/>
              <a:t>- Armazenamento Interno: 512 KB (Para o Sistema Operacional)</a:t>
            </a:r>
            <a:br>
              <a:rPr lang="pt-BR" dirty="0"/>
            </a:br>
            <a:r>
              <a:rPr lang="pt-BR" dirty="0"/>
              <a:t>- Armazenamento Adicional: 2 GB, não expansíveis, através do slot de Cartão SD.</a:t>
            </a:r>
            <a:br>
              <a:rPr lang="pt-BR" dirty="0"/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113C3BE-3195-40A2-823D-8B634B105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982132"/>
            <a:ext cx="1300317" cy="13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9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037D9-4CC1-4634-8892-9666025BC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Linha de Raciocínio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98CCB4-B05B-4992-AE59-238F1651A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Colocar o Light Switcher no mercado</a:t>
            </a:r>
          </a:p>
          <a:p>
            <a:r>
              <a:rPr lang="pt-BR" dirty="0"/>
              <a:t>Como vai ser feita a instalação/manutenção?</a:t>
            </a:r>
            <a:br>
              <a:rPr lang="pt-BR" dirty="0"/>
            </a:br>
            <a:r>
              <a:rPr lang="pt-BR" dirty="0"/>
              <a:t>Através do </a:t>
            </a:r>
            <a:r>
              <a:rPr lang="pt-BR" i="1" dirty="0" err="1"/>
              <a:t>MySwitcher</a:t>
            </a:r>
            <a:r>
              <a:rPr lang="pt-BR" i="1" dirty="0"/>
              <a:t>,</a:t>
            </a:r>
            <a:r>
              <a:rPr lang="pt-BR" dirty="0"/>
              <a:t> serviço de instalação/manutenção do produto, um responsável capacitado estará disponível para auxiliar em possíveis instalações ou manutenções na residência do usuário. Porém, antes de qualquer </a:t>
            </a:r>
            <a:r>
              <a:rPr lang="pt-BR"/>
              <a:t>serviço realizado, </a:t>
            </a:r>
            <a:r>
              <a:rPr lang="pt-BR" dirty="0"/>
              <a:t>é orientado que esse serviço de instalação/manutenção seja feita pelo próprio cliente de acordo com as informações contidas no manual de instalação do produto.</a:t>
            </a:r>
          </a:p>
          <a:p>
            <a:r>
              <a:rPr lang="pt-BR" dirty="0"/>
              <a:t>Se for instalado e der problema pra usar?</a:t>
            </a:r>
            <a:br>
              <a:rPr lang="pt-BR" dirty="0"/>
            </a:br>
            <a:r>
              <a:rPr lang="pt-BR" dirty="0"/>
              <a:t>Antes do técnico ir instalar o dispositivo é necessário incentivar o usuário a sempre procurar o manual de instruções de instalação. Caso haja um problema de conexão, tentar resolver sozinho (Por se tratar de um problema interno). Caso o problema for elétrico, o técnico que instalou o dispositivo terá que retornar na residência e consertar o problema existente.</a:t>
            </a:r>
          </a:p>
        </p:txBody>
      </p:sp>
    </p:spTree>
    <p:extLst>
      <p:ext uri="{BB962C8B-B14F-4D97-AF65-F5344CB8AC3E}">
        <p14:creationId xmlns:p14="http://schemas.microsoft.com/office/powerpoint/2010/main" val="16333994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â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â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â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2566</TotalTime>
  <Words>1803</Words>
  <Application>Microsoft Macintosh PowerPoint</Application>
  <PresentationFormat>Widescreen</PresentationFormat>
  <Paragraphs>100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Garamond</vt:lpstr>
      <vt:lpstr>Orgânico</vt:lpstr>
      <vt:lpstr>Light Switcher</vt:lpstr>
      <vt:lpstr>Energia Elétrica</vt:lpstr>
      <vt:lpstr>Processo de Distribuição</vt:lpstr>
      <vt:lpstr>Como é Composta a Tarifa</vt:lpstr>
      <vt:lpstr>Como é Composta a Tarifa</vt:lpstr>
      <vt:lpstr>Média de Gasto de Energia Elétrica (No estado de SP)</vt:lpstr>
      <vt:lpstr>Média de Gasto de Energia Elétrica (No estado de SP)</vt:lpstr>
      <vt:lpstr>Média de Gasto de Energia Elétrica (No BRASIL)</vt:lpstr>
      <vt:lpstr>Um dos países que mais desperdiça energia elétrica do mundo!</vt:lpstr>
      <vt:lpstr>PowerPoint Presentation</vt:lpstr>
      <vt:lpstr>Light OS</vt:lpstr>
      <vt:lpstr>Principais Recursos</vt:lpstr>
      <vt:lpstr>Principais Recursos</vt:lpstr>
      <vt:lpstr>Principais Recursos</vt:lpstr>
      <vt:lpstr>Principais Recursos</vt:lpstr>
      <vt:lpstr>Principais Recursos</vt:lpstr>
      <vt:lpstr>Principais Recursos</vt:lpstr>
      <vt:lpstr>Principais Recursos</vt:lpstr>
      <vt:lpstr>PowerPoint Presentation</vt:lpstr>
      <vt:lpstr>Não Perturbe</vt:lpstr>
      <vt:lpstr>Não Perturbe</vt:lpstr>
      <vt:lpstr>Não Perturbe</vt:lpstr>
      <vt:lpstr>PowerPoint Presentation</vt:lpstr>
      <vt:lpstr>Controle de Pais</vt:lpstr>
      <vt:lpstr>Controle de Pais</vt:lpstr>
      <vt:lpstr>Permissões / Privacidade</vt:lpstr>
      <vt:lpstr>Segurança</vt:lpstr>
      <vt:lpstr>Sensor de Movimento</vt:lpstr>
      <vt:lpstr>Sensor de Movimento</vt:lpstr>
      <vt:lpstr>Minuteria</vt:lpstr>
      <vt:lpstr>StandBy</vt:lpstr>
      <vt:lpstr>Modo Economia de Energia</vt:lpstr>
      <vt:lpstr>Sensores &amp; Periféricos</vt:lpstr>
      <vt:lpstr>PowerPoint Presentation</vt:lpstr>
      <vt:lpstr>Hardware</vt:lpstr>
      <vt:lpstr>Linha de Raciocínio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 Switcher</dc:title>
  <dc:creator>Heitor Bardemaker</dc:creator>
  <cp:lastModifiedBy>HEITOR BARDEMAKER ALVES BISNETO</cp:lastModifiedBy>
  <cp:revision>100</cp:revision>
  <dcterms:created xsi:type="dcterms:W3CDTF">2018-11-17T02:14:39Z</dcterms:created>
  <dcterms:modified xsi:type="dcterms:W3CDTF">2021-02-22T00:47:58Z</dcterms:modified>
</cp:coreProperties>
</file>